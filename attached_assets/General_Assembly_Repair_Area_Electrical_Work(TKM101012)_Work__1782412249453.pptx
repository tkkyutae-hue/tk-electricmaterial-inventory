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5" r:id="rId1"/>
  </p:sldMasterIdLst>
  <p:notesMasterIdLst>
    <p:notesMasterId r:id="rId10"/>
  </p:notesMasterIdLst>
  <p:handoutMasterIdLst>
    <p:handoutMasterId r:id="rId11"/>
  </p:handoutMasterIdLst>
  <p:sldIdLst>
    <p:sldId id="468" r:id="rId2"/>
    <p:sldId id="262" r:id="rId3"/>
    <p:sldId id="470" r:id="rId4"/>
    <p:sldId id="469" r:id="rId5"/>
    <p:sldId id="473" r:id="rId6"/>
    <p:sldId id="475" r:id="rId7"/>
    <p:sldId id="477" r:id="rId8"/>
    <p:sldId id="476" r:id="rId9"/>
  </p:sldIdLst>
  <p:sldSz cx="9144000" cy="6858000" type="screen4x3"/>
  <p:notesSz cx="9296400" cy="147828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332" userDrawn="1">
          <p15:clr>
            <a:srgbClr val="A4A3A4"/>
          </p15:clr>
        </p15:guide>
        <p15:guide id="2" pos="2995" userDrawn="1">
          <p15:clr>
            <a:srgbClr val="A4A3A4"/>
          </p15:clr>
        </p15:guide>
        <p15:guide id="3" orient="horz" pos="4656" userDrawn="1">
          <p15:clr>
            <a:srgbClr val="A4A3A4"/>
          </p15:clr>
        </p15:guide>
        <p15:guide id="4" pos="292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FCE"/>
    <a:srgbClr val="FF6600"/>
    <a:srgbClr val="FFFFFF"/>
    <a:srgbClr val="FF9900"/>
    <a:srgbClr val="D9E288"/>
    <a:srgbClr val="FFFFCC"/>
    <a:srgbClr val="66CCFF"/>
    <a:srgbClr val="00CC00"/>
    <a:srgbClr val="FF5050"/>
    <a:srgbClr val="485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E3BFDE-8720-47A3-8777-F97F96CF503F}" v="15" dt="2025-12-16T22:34:05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2" autoAdjust="0"/>
  </p:normalViewPr>
  <p:slideViewPr>
    <p:cSldViewPr snapToGrid="0">
      <p:cViewPr varScale="1">
        <p:scale>
          <a:sx n="172" d="100"/>
          <a:sy n="172" d="100"/>
        </p:scale>
        <p:origin x="1512" y="132"/>
      </p:cViewPr>
      <p:guideLst>
        <p:guide orient="horz" pos="2183"/>
        <p:guide pos="29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486"/>
    </p:cViewPr>
  </p:sorterViewPr>
  <p:notesViewPr>
    <p:cSldViewPr snapToGrid="0">
      <p:cViewPr varScale="1">
        <p:scale>
          <a:sx n="55" d="100"/>
          <a:sy n="55" d="100"/>
        </p:scale>
        <p:origin x="4122" y="114"/>
      </p:cViewPr>
      <p:guideLst>
        <p:guide orient="horz" pos="4332"/>
        <p:guide pos="2995"/>
        <p:guide orient="horz" pos="4656"/>
        <p:guide pos="29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453" cy="739969"/>
          </a:xfrm>
          <a:prstGeom prst="rect">
            <a:avLst/>
          </a:prstGeom>
        </p:spPr>
        <p:txBody>
          <a:bodyPr vert="horz" lIns="133512" tIns="66756" rIns="133512" bIns="66756" rtlCol="0"/>
          <a:lstStyle>
            <a:lvl1pPr algn="l">
              <a:defRPr sz="18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4778" y="0"/>
            <a:ext cx="4029453" cy="739969"/>
          </a:xfrm>
          <a:prstGeom prst="rect">
            <a:avLst/>
          </a:prstGeom>
        </p:spPr>
        <p:txBody>
          <a:bodyPr vert="horz" lIns="133512" tIns="66756" rIns="133512" bIns="66756" rtlCol="0"/>
          <a:lstStyle>
            <a:lvl1pPr algn="r">
              <a:defRPr sz="1800"/>
            </a:lvl1pPr>
          </a:lstStyle>
          <a:p>
            <a:fld id="{318BD652-E7C1-4EE8-8D50-BD9A92F8744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14042831"/>
            <a:ext cx="4029453" cy="739969"/>
          </a:xfrm>
          <a:prstGeom prst="rect">
            <a:avLst/>
          </a:prstGeom>
        </p:spPr>
        <p:txBody>
          <a:bodyPr vert="horz" lIns="133512" tIns="66756" rIns="133512" bIns="66756" rtlCol="0" anchor="b"/>
          <a:lstStyle>
            <a:lvl1pPr algn="l">
              <a:defRPr sz="18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4778" y="14042831"/>
            <a:ext cx="4029453" cy="739969"/>
          </a:xfrm>
          <a:prstGeom prst="rect">
            <a:avLst/>
          </a:prstGeom>
        </p:spPr>
        <p:txBody>
          <a:bodyPr vert="horz" lIns="133512" tIns="66756" rIns="133512" bIns="66756" rtlCol="0" anchor="b"/>
          <a:lstStyle>
            <a:lvl1pPr algn="r">
              <a:defRPr sz="1800"/>
            </a:lvl1pPr>
          </a:lstStyle>
          <a:p>
            <a:fld id="{A7C46E64-05B2-4EE4-AF44-E6A2B81C1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15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1" cy="741707"/>
          </a:xfrm>
          <a:prstGeom prst="rect">
            <a:avLst/>
          </a:prstGeom>
        </p:spPr>
        <p:txBody>
          <a:bodyPr vert="horz" lIns="136048" tIns="68025" rIns="136048" bIns="68025" rtlCol="0"/>
          <a:lstStyle>
            <a:lvl1pPr algn="l">
              <a:defRPr sz="18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8" y="0"/>
            <a:ext cx="4028441" cy="741707"/>
          </a:xfrm>
          <a:prstGeom prst="rect">
            <a:avLst/>
          </a:prstGeom>
        </p:spPr>
        <p:txBody>
          <a:bodyPr vert="horz" lIns="136048" tIns="68025" rIns="136048" bIns="68025" rtlCol="0"/>
          <a:lstStyle>
            <a:lvl1pPr algn="r">
              <a:defRPr sz="1800"/>
            </a:lvl1pPr>
          </a:lstStyle>
          <a:p>
            <a:fld id="{6F485F8F-A1FB-4EC1-8AD3-A36B528613A8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23975" y="1847850"/>
            <a:ext cx="6648450" cy="49863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6048" tIns="68025" rIns="136048" bIns="680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1" y="7114223"/>
            <a:ext cx="7437120" cy="5820727"/>
          </a:xfrm>
          <a:prstGeom prst="rect">
            <a:avLst/>
          </a:prstGeom>
        </p:spPr>
        <p:txBody>
          <a:bodyPr vert="horz" lIns="136048" tIns="68025" rIns="136048" bIns="6802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4041100"/>
            <a:ext cx="4028441" cy="741705"/>
          </a:xfrm>
          <a:prstGeom prst="rect">
            <a:avLst/>
          </a:prstGeom>
        </p:spPr>
        <p:txBody>
          <a:bodyPr vert="horz" lIns="136048" tIns="68025" rIns="136048" bIns="68025" rtlCol="0" anchor="b"/>
          <a:lstStyle>
            <a:lvl1pPr algn="l">
              <a:defRPr sz="18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8" y="14041100"/>
            <a:ext cx="4028441" cy="741705"/>
          </a:xfrm>
          <a:prstGeom prst="rect">
            <a:avLst/>
          </a:prstGeom>
        </p:spPr>
        <p:txBody>
          <a:bodyPr vert="horz" lIns="136048" tIns="68025" rIns="136048" bIns="68025" rtlCol="0" anchor="b"/>
          <a:lstStyle>
            <a:lvl1pPr algn="r">
              <a:defRPr sz="1800"/>
            </a:lvl1pPr>
          </a:lstStyle>
          <a:p>
            <a:fld id="{EF0C5849-841D-46E7-9364-2F06615A9B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6032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13896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81AE06E3-0BD5-FA65-613B-5401968865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4A03ED95-0653-BFAA-00E3-69D0BFE5E1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EAF7C0D8-255C-41AC-E8D7-67B5C0272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9pPr>
          </a:lstStyle>
          <a:p>
            <a:pPr latinLnBrk="0">
              <a:spcBef>
                <a:spcPct val="0"/>
              </a:spcBef>
            </a:pPr>
            <a:fld id="{9E9CA249-E54F-403C-94EF-62392E30431A}" type="slidenum">
              <a:rPr lang="ko-KR" altLang="en-US" smtClean="0">
                <a:latin typeface="굴림" panose="020B0600000101010101" pitchFamily="34" charset="-127"/>
                <a:ea typeface="굴림" panose="020B0600000101010101" pitchFamily="34" charset="-127"/>
              </a:rPr>
              <a:pPr latinLnBrk="0">
                <a:spcBef>
                  <a:spcPct val="0"/>
                </a:spcBef>
              </a:pPr>
              <a:t>2</a:t>
            </a:fld>
            <a:endParaRPr lang="ko-KR" altLang="en-US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6C0C0-D791-143D-AEE3-7A0F99C96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5D8A7E21-3497-1683-BA58-F5952D3E9B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D61DB80D-39EC-4ED5-B342-DC1E80D83F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AF67C6B8-FFE6-D266-3B43-6DB07914E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9pPr>
          </a:lstStyle>
          <a:p>
            <a:pPr latinLnBrk="0">
              <a:spcBef>
                <a:spcPct val="0"/>
              </a:spcBef>
            </a:pPr>
            <a:fld id="{9E9CA249-E54F-403C-94EF-62392E30431A}" type="slidenum">
              <a:rPr lang="ko-KR" altLang="en-US" smtClean="0">
                <a:latin typeface="굴림" panose="020B0600000101010101" pitchFamily="34" charset="-127"/>
                <a:ea typeface="굴림" panose="020B0600000101010101" pitchFamily="34" charset="-127"/>
              </a:rPr>
              <a:pPr latinLnBrk="0">
                <a:spcBef>
                  <a:spcPct val="0"/>
                </a:spcBef>
              </a:pPr>
              <a:t>3</a:t>
            </a:fld>
            <a:endParaRPr lang="ko-KR" altLang="en-US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7546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54108-B533-E020-E28C-EA758F563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1A309E05-2D64-8557-C625-2BD7695C16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E4BFBB58-CD77-1F1E-8961-D9B3E3BB9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330C3A8B-6F0C-A668-F6E9-AD0240EFC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9pPr>
          </a:lstStyle>
          <a:p>
            <a:pPr latinLnBrk="0">
              <a:spcBef>
                <a:spcPct val="0"/>
              </a:spcBef>
            </a:pPr>
            <a:fld id="{9E9CA249-E54F-403C-94EF-62392E30431A}" type="slidenum">
              <a:rPr lang="ko-KR" altLang="en-US" smtClean="0">
                <a:latin typeface="굴림" panose="020B0600000101010101" pitchFamily="34" charset="-127"/>
                <a:ea typeface="굴림" panose="020B0600000101010101" pitchFamily="34" charset="-127"/>
              </a:rPr>
              <a:pPr latinLnBrk="0">
                <a:spcBef>
                  <a:spcPct val="0"/>
                </a:spcBef>
              </a:pPr>
              <a:t>4</a:t>
            </a:fld>
            <a:endParaRPr lang="ko-KR" altLang="en-US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1935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750F4-4901-6943-0F80-5B53EF31B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이미지 개체 틀 1">
            <a:extLst>
              <a:ext uri="{FF2B5EF4-FFF2-40B4-BE49-F238E27FC236}">
                <a16:creationId xmlns:a16="http://schemas.microsoft.com/office/drawing/2014/main" id="{C2A7A936-36C9-8973-AE0E-405B6E8BA0B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슬라이드 노트 개체 틀 2">
            <a:extLst>
              <a:ext uri="{FF2B5EF4-FFF2-40B4-BE49-F238E27FC236}">
                <a16:creationId xmlns:a16="http://schemas.microsoft.com/office/drawing/2014/main" id="{4F88E995-9D83-274F-708F-2BA95C6FD31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220" name="슬라이드 번호 개체 틀 3">
            <a:extLst>
              <a:ext uri="{FF2B5EF4-FFF2-40B4-BE49-F238E27FC236}">
                <a16:creationId xmlns:a16="http://schemas.microsoft.com/office/drawing/2014/main" id="{E3A22253-D2E5-264B-5A87-71AA70873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9pPr>
          </a:lstStyle>
          <a:p>
            <a:pPr latinLnBrk="0">
              <a:spcBef>
                <a:spcPct val="0"/>
              </a:spcBef>
            </a:pPr>
            <a:fld id="{525C1C10-90A4-4369-B8CA-3A446545E2AD}" type="slidenum">
              <a:rPr lang="ko-KR" altLang="en-US" smtClean="0">
                <a:latin typeface="굴림" panose="020B0600000101010101" pitchFamily="34" charset="-127"/>
                <a:ea typeface="굴림" panose="020B0600000101010101" pitchFamily="34" charset="-127"/>
              </a:rPr>
              <a:pPr latinLnBrk="0">
                <a:spcBef>
                  <a:spcPct val="0"/>
                </a:spcBef>
              </a:pPr>
              <a:t>5</a:t>
            </a:fld>
            <a:endParaRPr lang="ko-KR" altLang="en-US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9034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21C31-A5EB-3302-C19F-8F2DEED0F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01E5CD08-9E53-1B22-317F-3D5E7F4904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8E8D2BEE-A3FA-6AB0-43C7-1C5269B152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8DDC1F8C-50C1-5A5E-4EC8-269058ACD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9pPr>
          </a:lstStyle>
          <a:p>
            <a:pPr latinLnBrk="0">
              <a:spcBef>
                <a:spcPct val="0"/>
              </a:spcBef>
            </a:pPr>
            <a:fld id="{9E9CA249-E54F-403C-94EF-62392E30431A}" type="slidenum">
              <a:rPr lang="ko-KR" altLang="en-US" smtClean="0">
                <a:latin typeface="굴림" panose="020B0600000101010101" pitchFamily="34" charset="-127"/>
                <a:ea typeface="굴림" panose="020B0600000101010101" pitchFamily="34" charset="-127"/>
              </a:rPr>
              <a:pPr latinLnBrk="0">
                <a:spcBef>
                  <a:spcPct val="0"/>
                </a:spcBef>
              </a:pPr>
              <a:t>6</a:t>
            </a:fld>
            <a:endParaRPr lang="ko-KR" altLang="en-US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4688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F4169-5D07-5C7E-AB9E-0B6A3FD3F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이미지 개체 틀 1">
            <a:extLst>
              <a:ext uri="{FF2B5EF4-FFF2-40B4-BE49-F238E27FC236}">
                <a16:creationId xmlns:a16="http://schemas.microsoft.com/office/drawing/2014/main" id="{12A1359B-8581-24F8-579C-485A4044F3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슬라이드 노트 개체 틀 2">
            <a:extLst>
              <a:ext uri="{FF2B5EF4-FFF2-40B4-BE49-F238E27FC236}">
                <a16:creationId xmlns:a16="http://schemas.microsoft.com/office/drawing/2014/main" id="{73DF5335-D448-EF0D-C787-70FE09AA3B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220" name="슬라이드 번호 개체 틀 3">
            <a:extLst>
              <a:ext uri="{FF2B5EF4-FFF2-40B4-BE49-F238E27FC236}">
                <a16:creationId xmlns:a16="http://schemas.microsoft.com/office/drawing/2014/main" id="{F94EB646-2397-2363-D39F-353663AD5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9pPr>
          </a:lstStyle>
          <a:p>
            <a:pPr latinLnBrk="0">
              <a:spcBef>
                <a:spcPct val="0"/>
              </a:spcBef>
            </a:pPr>
            <a:fld id="{525C1C10-90A4-4369-B8CA-3A446545E2AD}" type="slidenum">
              <a:rPr lang="ko-KR" altLang="en-US" smtClean="0">
                <a:latin typeface="굴림" panose="020B0600000101010101" pitchFamily="34" charset="-127"/>
                <a:ea typeface="굴림" panose="020B0600000101010101" pitchFamily="34" charset="-127"/>
              </a:rPr>
              <a:pPr latinLnBrk="0">
                <a:spcBef>
                  <a:spcPct val="0"/>
                </a:spcBef>
              </a:pPr>
              <a:t>7</a:t>
            </a:fld>
            <a:endParaRPr lang="ko-KR" altLang="en-US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671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5822C-C599-19FF-DCEC-75CEC5F8A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이미지 개체 틀 1">
            <a:extLst>
              <a:ext uri="{FF2B5EF4-FFF2-40B4-BE49-F238E27FC236}">
                <a16:creationId xmlns:a16="http://schemas.microsoft.com/office/drawing/2014/main" id="{FB6E14A5-DD9A-C70A-24BE-8B0D0E058A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슬라이드 노트 개체 틀 2">
            <a:extLst>
              <a:ext uri="{FF2B5EF4-FFF2-40B4-BE49-F238E27FC236}">
                <a16:creationId xmlns:a16="http://schemas.microsoft.com/office/drawing/2014/main" id="{0FD4993E-7B17-087A-29A6-5EFBA758539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220" name="슬라이드 번호 개체 틀 3">
            <a:extLst>
              <a:ext uri="{FF2B5EF4-FFF2-40B4-BE49-F238E27FC236}">
                <a16:creationId xmlns:a16="http://schemas.microsoft.com/office/drawing/2014/main" id="{E988B523-4F1C-5378-29BC-187BB80D5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9pPr>
          </a:lstStyle>
          <a:p>
            <a:pPr latinLnBrk="0">
              <a:spcBef>
                <a:spcPct val="0"/>
              </a:spcBef>
            </a:pPr>
            <a:fld id="{525C1C10-90A4-4369-B8CA-3A446545E2AD}" type="slidenum">
              <a:rPr lang="ko-KR" altLang="en-US" smtClean="0">
                <a:latin typeface="굴림" panose="020B0600000101010101" pitchFamily="34" charset="-127"/>
                <a:ea typeface="굴림" panose="020B0600000101010101" pitchFamily="34" charset="-127"/>
              </a:rPr>
              <a:pPr latinLnBrk="0">
                <a:spcBef>
                  <a:spcPct val="0"/>
                </a:spcBef>
              </a:pPr>
              <a:t>8</a:t>
            </a:fld>
            <a:endParaRPr lang="ko-KR" altLang="en-US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595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8051-BB5E-4E78-9826-0566176E0B97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62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250" advTm="5000"/>
    </mc:Choice>
    <mc:Fallback xmlns="">
      <p:transition spd="slow" advTm="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9475-85C9-4222-A7F5-444558FD6128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73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250" advTm="5000"/>
    </mc:Choice>
    <mc:Fallback xmlns="">
      <p:transition spd="slow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180F6-C416-42E0-B63A-B5CEBC274986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434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250" advTm="5000"/>
    </mc:Choice>
    <mc:Fallback xmlns="">
      <p:transition spd="slow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DB70-FB77-4D7A-980A-4CF6D67EFAA3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51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250" advTm="5000"/>
    </mc:Choice>
    <mc:Fallback xmlns="">
      <p:transition spd="slow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548A3-9C2B-4A88-AFF2-E58DEC3B4623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291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250" advTm="5000"/>
    </mc:Choice>
    <mc:Fallback xmlns="">
      <p:transition spd="slow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527FC-4E3C-4841-A7C3-18F2F1D9BAB3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TK ELECTRIC LLC.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66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250" advTm="5000"/>
    </mc:Choice>
    <mc:Fallback xmlns="">
      <p:transition spd="slow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6C252-420E-D494-CD7B-6C5472BB968C}"/>
              </a:ext>
            </a:extLst>
          </p:cNvPr>
          <p:cNvSpPr txBox="1"/>
          <p:nvPr userDrawn="1"/>
        </p:nvSpPr>
        <p:spPr>
          <a:xfrm>
            <a:off x="7383114" y="6550223"/>
            <a:ext cx="176088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TK ELECTRIC LLC.</a:t>
            </a:r>
          </a:p>
        </p:txBody>
      </p:sp>
    </p:spTree>
    <p:extLst>
      <p:ext uri="{BB962C8B-B14F-4D97-AF65-F5344CB8AC3E}">
        <p14:creationId xmlns:p14="http://schemas.microsoft.com/office/powerpoint/2010/main" val="414235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250" advTm="5000"/>
    </mc:Choice>
    <mc:Fallback xmlns="">
      <p:transition spd="slow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6B73-0210-42B1-8E28-288A44F179DB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05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250" advTm="5000"/>
    </mc:Choice>
    <mc:Fallback xmlns="">
      <p:transition spd="slow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1161-7E24-4EC0-AEB8-F71815020557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05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250" advTm="5000"/>
    </mc:Choice>
    <mc:Fallback xmlns="">
      <p:transition spd="slow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E4A4-F68F-490C-9FCF-07CA6EBB5859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537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250" advTm="5000"/>
    </mc:Choice>
    <mc:Fallback xmlns="">
      <p:transition spd="slow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33A5-2BB7-4DCC-905F-F58BBAF7FDE5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721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250" advTm="5000"/>
    </mc:Choice>
    <mc:Fallback xmlns="">
      <p:transition spd="slow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B196E92-CF8B-59EE-251A-3CDBAFDB4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C802F3E-C1EB-B94A-93C7-7E576865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A548FE-5230-8D3F-875B-7401C4118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AE1762-6CBC-4805-A304-BD780D4E535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085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27D44-777D-45BA-B6DE-6E796469E603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068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</p:sldLayoutIdLst>
  <mc:AlternateContent xmlns:mc="http://schemas.openxmlformats.org/markup-compatibility/2006" xmlns:p14="http://schemas.microsoft.com/office/powerpoint/2010/main">
    <mc:Choice Requires="p14">
      <p:transition spd="slow" p14:dur="4250" advTm="5000"/>
    </mc:Choice>
    <mc:Fallback xmlns="">
      <p:transition spd="slow" advTm="5000"/>
    </mc:Fallback>
  </mc:AlternateConten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폰트, 그래픽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8DB84A99-48D2-4D76-9540-8C53CFDDE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0573" y="5611029"/>
            <a:ext cx="2270626" cy="1118283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41D3C54-7F80-1895-A618-91EF06E0A271}"/>
              </a:ext>
            </a:extLst>
          </p:cNvPr>
          <p:cNvSpPr/>
          <p:nvPr/>
        </p:nvSpPr>
        <p:spPr>
          <a:xfrm>
            <a:off x="356610" y="2002614"/>
            <a:ext cx="8465272" cy="111828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Bef>
                <a:spcPct val="0"/>
              </a:spcBef>
              <a:defRPr/>
            </a:pPr>
            <a:r>
              <a:rPr kumimoji="0" lang="en-US" altLang="ko-KR" sz="1400" b="1" kern="1200" dirty="0">
                <a:solidFill>
                  <a:schemeClr val="tx1"/>
                </a:solidFill>
                <a:latin typeface="+mj-ea"/>
                <a:ea typeface="+mj-ea"/>
                <a:cs typeface="+mj-cs"/>
              </a:rPr>
              <a:t>General Assembly Repair Area Electrical Work(TKM101012)</a:t>
            </a:r>
          </a:p>
          <a:p>
            <a:pPr algn="ctr" defTabSz="914400">
              <a:spcBef>
                <a:spcPct val="0"/>
              </a:spcBef>
              <a:defRPr/>
            </a:pPr>
            <a:r>
              <a:rPr lang="en-US" altLang="ko-KR" sz="2400" b="1" dirty="0">
                <a:ln w="0"/>
                <a:solidFill>
                  <a:schemeClr val="tx1"/>
                </a:solidFill>
                <a:latin typeface="+mj-ea"/>
                <a:ea typeface="+mj-ea"/>
                <a:cs typeface="+mj-cs"/>
              </a:rPr>
              <a:t>Work Final Report</a:t>
            </a:r>
            <a:endParaRPr lang="ko-KR" altLang="en-US" sz="2400" b="1" kern="1200" dirty="0">
              <a:ln w="0"/>
              <a:solidFill>
                <a:schemeClr val="tx1"/>
              </a:solidFill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86741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25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Rectangle 34">
            <a:extLst>
              <a:ext uri="{FF2B5EF4-FFF2-40B4-BE49-F238E27FC236}">
                <a16:creationId xmlns:a16="http://schemas.microsoft.com/office/drawing/2014/main" id="{52288350-E9F2-0D4A-70BC-5A49D196A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3" y="211138"/>
            <a:ext cx="3781425" cy="360362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1" hangingPunct="1">
              <a:defRPr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■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PROJECT COMPLETION REPORT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187" name="그림 1">
            <a:extLst>
              <a:ext uri="{FF2B5EF4-FFF2-40B4-BE49-F238E27FC236}">
                <a16:creationId xmlns:a16="http://schemas.microsoft.com/office/drawing/2014/main" id="{9510BEBF-AD96-6E32-80D8-FE8D09C01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149225"/>
            <a:ext cx="1414463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79D212-ED72-356E-EC48-35AE20C6CCCB}"/>
              </a:ext>
            </a:extLst>
          </p:cNvPr>
          <p:cNvSpPr txBox="1"/>
          <p:nvPr/>
        </p:nvSpPr>
        <p:spPr>
          <a:xfrm>
            <a:off x="731917" y="1120724"/>
            <a:ext cx="7576060" cy="50321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effectLst/>
                <a:latin typeface="+mn-ea"/>
                <a:cs typeface="Gulim" panose="020B0600000101010101" pitchFamily="34" charset="-127"/>
              </a:rPr>
              <a:t>Work Final Report</a:t>
            </a:r>
            <a:endParaRPr lang="ko-KR" altLang="ko-KR" sz="14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ctr"/>
            <a:r>
              <a:rPr lang="en-US" altLang="ko-KR" sz="1800" dirty="0">
                <a:effectLst/>
                <a:latin typeface="+mn-ea"/>
                <a:cs typeface="Gulim" panose="020B0600000101010101" pitchFamily="34" charset="-127"/>
              </a:rPr>
              <a:t>  </a:t>
            </a:r>
            <a:r>
              <a:rPr lang="en-US" altLang="ko-KR" sz="1400" dirty="0">
                <a:effectLst/>
                <a:latin typeface="+mn-ea"/>
                <a:cs typeface="Times New Roman" panose="02020603050405020304" pitchFamily="18" charset="0"/>
              </a:rPr>
              <a:t> </a:t>
            </a:r>
            <a:endParaRPr lang="ko-KR" altLang="ko-KR" sz="14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ctr"/>
            <a:r>
              <a:rPr lang="en-US" altLang="ko-KR" sz="1400" dirty="0">
                <a:effectLst/>
                <a:latin typeface="+mn-ea"/>
                <a:cs typeface="Times New Roman" panose="02020603050405020304" pitchFamily="18" charset="0"/>
              </a:rPr>
              <a:t> </a:t>
            </a:r>
            <a:endParaRPr lang="ko-KR" altLang="ko-KR" sz="14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en-US" altLang="ko-KR" sz="1100" dirty="0">
                <a:effectLst/>
                <a:latin typeface="+mn-ea"/>
                <a:cs typeface="Gulim" panose="020B0600000101010101" pitchFamily="34" charset="-127"/>
              </a:rPr>
              <a:t>1. Project Name: </a:t>
            </a:r>
            <a:r>
              <a:rPr lang="en-US" altLang="ko-KR" sz="1100" dirty="0">
                <a:latin typeface="+mn-ea"/>
                <a:cs typeface="Gulim" panose="020B0600000101010101" pitchFamily="34" charset="-127"/>
              </a:rPr>
              <a:t>General Assembly Repair Area Electrical Work</a:t>
            </a:r>
          </a:p>
          <a:p>
            <a:pPr algn="just"/>
            <a:r>
              <a:rPr lang="en-US" altLang="ko-KR" sz="1100" dirty="0">
                <a:effectLst/>
                <a:latin typeface="+mn-ea"/>
                <a:cs typeface="Times New Roman" panose="02020603050405020304" pitchFamily="18" charset="0"/>
              </a:rPr>
              <a:t> </a:t>
            </a:r>
            <a:endParaRPr lang="ko-KR" altLang="ko-KR" sz="1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en-US" altLang="ko-KR" sz="1100" dirty="0">
                <a:effectLst/>
                <a:latin typeface="+mn-ea"/>
                <a:cs typeface="Gulim" panose="020B0600000101010101" pitchFamily="34" charset="-127"/>
              </a:rPr>
              <a:t>2. PO Number:  TKM101012</a:t>
            </a:r>
            <a:endParaRPr lang="ko-KR" altLang="ko-KR" sz="1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en-US" altLang="ko-KR" sz="1100" dirty="0">
                <a:effectLst/>
                <a:latin typeface="+mn-ea"/>
                <a:cs typeface="Times New Roman" panose="02020603050405020304" pitchFamily="18" charset="0"/>
              </a:rPr>
              <a:t> </a:t>
            </a:r>
            <a:endParaRPr lang="ko-KR" altLang="ko-KR" sz="1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en-US" altLang="ko-KR" sz="1100" dirty="0">
                <a:effectLst/>
                <a:latin typeface="+mn-ea"/>
                <a:cs typeface="Gulim" panose="020B0600000101010101" pitchFamily="34" charset="-127"/>
              </a:rPr>
              <a:t>3. Company Name:  TK ELECTRIC LLC.</a:t>
            </a:r>
            <a:endParaRPr lang="ko-KR" altLang="ko-KR" sz="1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en-US" altLang="ko-KR" sz="1100" dirty="0">
                <a:effectLst/>
                <a:latin typeface="+mn-ea"/>
                <a:cs typeface="Times New Roman" panose="02020603050405020304" pitchFamily="18" charset="0"/>
              </a:rPr>
              <a:t> </a:t>
            </a:r>
            <a:endParaRPr lang="ko-KR" altLang="ko-KR" sz="1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en-US" altLang="ko-KR" sz="1100" dirty="0">
                <a:effectLst/>
                <a:latin typeface="+mn-ea"/>
                <a:cs typeface="Gulim" panose="020B0600000101010101" pitchFamily="34" charset="-127"/>
              </a:rPr>
              <a:t>4. Contract Item:  </a:t>
            </a:r>
            <a:r>
              <a:rPr lang="en-US" altLang="ko-KR" sz="1100" dirty="0">
                <a:latin typeface="+mn-ea"/>
                <a:cs typeface="Gulim" panose="020B0600000101010101" pitchFamily="34" charset="-127"/>
              </a:rPr>
              <a:t>Electric Works</a:t>
            </a:r>
            <a:r>
              <a:rPr lang="en-US" altLang="ko-KR" sz="1100" dirty="0">
                <a:effectLst/>
                <a:latin typeface="+mn-ea"/>
                <a:cs typeface="Gulim" panose="020B0600000101010101" pitchFamily="34" charset="-127"/>
              </a:rPr>
              <a:t> </a:t>
            </a:r>
          </a:p>
          <a:p>
            <a:r>
              <a:rPr lang="en-US" altLang="ko-KR" sz="1100" dirty="0">
                <a:effectLst/>
                <a:latin typeface="+mn-ea"/>
                <a:cs typeface="Times New Roman" panose="02020603050405020304" pitchFamily="18" charset="0"/>
              </a:rPr>
              <a:t> </a:t>
            </a:r>
            <a:endParaRPr lang="ko-KR" altLang="ko-KR" sz="1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en-US" altLang="ko-KR" sz="1100" dirty="0">
                <a:effectLst/>
                <a:latin typeface="+mn-ea"/>
                <a:cs typeface="Gulim" panose="020B0600000101010101" pitchFamily="34" charset="-127"/>
              </a:rPr>
              <a:t>5. Work Description: General Assembly Repair Area Electrical Work</a:t>
            </a:r>
            <a:r>
              <a:rPr lang="en-US" altLang="ko-KR" sz="1100" dirty="0">
                <a:effectLst/>
                <a:latin typeface="+mn-ea"/>
                <a:cs typeface="Times New Roman" panose="02020603050405020304" pitchFamily="18" charset="0"/>
              </a:rPr>
              <a:t> </a:t>
            </a:r>
          </a:p>
          <a:p>
            <a:r>
              <a:rPr lang="en-US" altLang="ko-KR" sz="1100" dirty="0">
                <a:effectLst/>
                <a:latin typeface="+mn-ea"/>
                <a:cs typeface="Times New Roman" panose="02020603050405020304" pitchFamily="18" charset="0"/>
              </a:rPr>
              <a:t> - </a:t>
            </a:r>
            <a:r>
              <a:rPr lang="en-US" sz="1100" dirty="0"/>
              <a:t>Install 480V, 100A, 3P, 3W electrical panel with eight (8) 20A, 2P circuit breakers in the Polishing Area</a:t>
            </a:r>
            <a:endParaRPr lang="en-US" sz="1100" dirty="0">
              <a:latin typeface="+mn-ea"/>
              <a:cs typeface="Times New Roman" panose="02020603050405020304" pitchFamily="18" charset="0"/>
            </a:endParaRPr>
          </a:p>
          <a:p>
            <a:r>
              <a:rPr lang="en-US" sz="1100" dirty="0"/>
              <a:t>  - Install eight (8) L8-30R receptacles for infrared lamps in the Polishing Area</a:t>
            </a:r>
          </a:p>
          <a:p>
            <a:r>
              <a:rPr lang="en-US" sz="1100" dirty="0"/>
              <a:t>  - Install two (2) quad receptacles in the Repair Area</a:t>
            </a:r>
            <a:endParaRPr lang="en-US" altLang="ko-KR" sz="1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190500" algn="ctr"/>
            <a:endParaRPr lang="en-US" altLang="ko-KR" sz="1100" dirty="0">
              <a:latin typeface="+mn-ea"/>
              <a:cs typeface="Times New Roman" panose="02020603050405020304" pitchFamily="18" charset="0"/>
            </a:endParaRPr>
          </a:p>
          <a:p>
            <a:pPr marL="190500" algn="ctr"/>
            <a:endParaRPr lang="en-US" altLang="ko-KR" sz="1100" dirty="0">
              <a:effectLst/>
              <a:latin typeface="+mn-ea"/>
              <a:cs typeface="Gulim" panose="020B0600000101010101" pitchFamily="34" charset="-127"/>
            </a:endParaRPr>
          </a:p>
          <a:p>
            <a:pPr marL="190500" algn="ctr"/>
            <a:r>
              <a:rPr lang="en-US" altLang="ko-KR" sz="1100" dirty="0">
                <a:effectLst/>
                <a:latin typeface="+mn-ea"/>
                <a:cs typeface="Gulim" panose="020B0600000101010101" pitchFamily="34" charset="-127"/>
              </a:rPr>
              <a:t>We hereby report that the above work (</a:t>
            </a:r>
            <a:r>
              <a:rPr lang="en-US" altLang="ko-KR" sz="1200" b="1" dirty="0">
                <a:effectLst/>
                <a:latin typeface="+mn-ea"/>
                <a:cs typeface="Gulim" panose="020B0600000101010101" pitchFamily="34" charset="-127"/>
              </a:rPr>
              <a:t>General Assembly Repair Area Electrical Work</a:t>
            </a:r>
            <a:r>
              <a:rPr lang="en-US" altLang="ko-KR" sz="1100" dirty="0">
                <a:effectLst/>
                <a:latin typeface="+mn-ea"/>
                <a:cs typeface="Gulim" panose="020B0600000101010101" pitchFamily="34" charset="-127"/>
              </a:rPr>
              <a:t>) </a:t>
            </a:r>
          </a:p>
          <a:p>
            <a:pPr marL="190500" algn="ctr"/>
            <a:r>
              <a:rPr lang="en-US" altLang="ko-KR" sz="1100" dirty="0">
                <a:effectLst/>
                <a:latin typeface="+mn-ea"/>
                <a:cs typeface="Gulim" panose="020B0600000101010101" pitchFamily="34" charset="-127"/>
              </a:rPr>
              <a:t>has been completed as described.</a:t>
            </a:r>
          </a:p>
          <a:p>
            <a:pPr marL="190500" algn="ctr"/>
            <a:endParaRPr lang="en-US" altLang="ko-KR" sz="1100" dirty="0">
              <a:effectLst/>
              <a:latin typeface="+mn-ea"/>
              <a:cs typeface="Gulim" panose="020B0600000101010101" pitchFamily="34" charset="-127"/>
            </a:endParaRPr>
          </a:p>
          <a:p>
            <a:pPr marL="190500" algn="ctr"/>
            <a:endParaRPr lang="en-US" altLang="ko-KR" sz="1100" dirty="0">
              <a:latin typeface="+mn-ea"/>
              <a:cs typeface="Times New Roman" panose="02020603050405020304" pitchFamily="18" charset="0"/>
            </a:endParaRPr>
          </a:p>
          <a:p>
            <a:pPr marL="190500" algn="ctr"/>
            <a:endParaRPr lang="ko-KR" altLang="ko-KR" sz="1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dirty="0">
                <a:effectLst/>
                <a:latin typeface="+mn-ea"/>
                <a:cs typeface="Times New Roman" panose="02020603050405020304" pitchFamily="18" charset="0"/>
              </a:rPr>
              <a:t> </a:t>
            </a:r>
            <a:endParaRPr lang="ko-KR" altLang="ko-KR" sz="1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r"/>
            <a:r>
              <a:rPr lang="en-US" altLang="ko-KR" sz="1100" dirty="0">
                <a:effectLst/>
                <a:latin typeface="+mn-ea"/>
                <a:cs typeface="Gulim" panose="020B0600000101010101" pitchFamily="34" charset="-127"/>
              </a:rPr>
              <a:t>Completion Date: Jan. 25.</a:t>
            </a:r>
            <a:r>
              <a:rPr lang="en-US" altLang="ko-KR" sz="1100" dirty="0">
                <a:latin typeface="+mn-ea"/>
                <a:cs typeface="Gulim" panose="020B0600000101010101" pitchFamily="34" charset="-127"/>
              </a:rPr>
              <a:t> 2026</a:t>
            </a:r>
          </a:p>
          <a:p>
            <a:pPr algn="r"/>
            <a:endParaRPr lang="en-US" altLang="ko-KR" sz="1100" dirty="0">
              <a:latin typeface="+mn-ea"/>
              <a:cs typeface="Gulim" panose="020B0600000101010101" pitchFamily="34" charset="-127"/>
            </a:endParaRPr>
          </a:p>
          <a:p>
            <a:pPr algn="r"/>
            <a:r>
              <a:rPr lang="en-US" altLang="ko-KR" sz="1100" dirty="0">
                <a:effectLst/>
                <a:latin typeface="+mn-ea"/>
                <a:cs typeface="Gulim" panose="020B0600000101010101" pitchFamily="34" charset="-127"/>
              </a:rPr>
              <a:t> Contractor: TK ELECTRIC LLC.</a:t>
            </a:r>
          </a:p>
          <a:p>
            <a:pPr marL="2540000" algn="just"/>
            <a:endParaRPr lang="ko-KR" altLang="ko-KR" sz="1100" dirty="0">
              <a:effectLst/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8E06-6991-57C0-5B58-5D30964C5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170AA4-4E59-EC70-E98E-F41CB7AAC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478" y="426720"/>
            <a:ext cx="5559043" cy="6431280"/>
          </a:xfrm>
          <a:prstGeom prst="rect">
            <a:avLst/>
          </a:prstGeom>
        </p:spPr>
      </p:pic>
      <p:sp>
        <p:nvSpPr>
          <p:cNvPr id="2090" name="Rectangle 34">
            <a:extLst>
              <a:ext uri="{FF2B5EF4-FFF2-40B4-BE49-F238E27FC236}">
                <a16:creationId xmlns:a16="http://schemas.microsoft.com/office/drawing/2014/main" id="{54D685DD-D1E9-8E67-7078-5B05C3164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3" y="211138"/>
            <a:ext cx="3781425" cy="360362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1" hangingPunct="1">
              <a:defRPr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■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PROJECT COMPLETION REPORT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187" name="그림 1">
            <a:extLst>
              <a:ext uri="{FF2B5EF4-FFF2-40B4-BE49-F238E27FC236}">
                <a16:creationId xmlns:a16="http://schemas.microsoft.com/office/drawing/2014/main" id="{099A43E7-BCDA-0B4B-7A00-8B2F6FEA0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149225"/>
            <a:ext cx="1414463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5954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22DFC-DD91-7208-9A51-C354184A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9554" name="Group 2">
            <a:extLst>
              <a:ext uri="{FF2B5EF4-FFF2-40B4-BE49-F238E27FC236}">
                <a16:creationId xmlns:a16="http://schemas.microsoft.com/office/drawing/2014/main" id="{42651983-3236-C527-15A8-1CAD69ADB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78406"/>
              </p:ext>
            </p:extLst>
          </p:nvPr>
        </p:nvGraphicFramePr>
        <p:xfrm>
          <a:off x="183356" y="879475"/>
          <a:ext cx="8777287" cy="5804334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0373">
                <a:tc row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Project Name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>
                          <a:latin typeface="+mn-ea"/>
                          <a:cs typeface="Gulim" panose="020B0600000101010101" pitchFamily="34" charset="-127"/>
                        </a:rPr>
                        <a:t>General Assembly Repair Area Electrical Work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Duration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Jan. 22. 2026 ~ Jan. 25. 2026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6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Contractor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TK Electric LLC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919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Location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Malgun Gothic" panose="020B0503020000020004" pitchFamily="34" charset="-127"/>
                        </a:rPr>
                        <a:t>General Assembly(Repair Area)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52">
                <a:tc gridSpan="4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Drawing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1985">
                <a:tc gridSpan="4"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85" name="Rectangle 33">
            <a:extLst>
              <a:ext uri="{FF2B5EF4-FFF2-40B4-BE49-F238E27FC236}">
                <a16:creationId xmlns:a16="http://schemas.microsoft.com/office/drawing/2014/main" id="{F5D4C2E4-492D-0ACE-930A-0CA0FAB1E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2163"/>
            <a:ext cx="9144000" cy="8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ko-KR" altLang="ko-KR" sz="13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2090" name="Rectangle 34">
            <a:extLst>
              <a:ext uri="{FF2B5EF4-FFF2-40B4-BE49-F238E27FC236}">
                <a16:creationId xmlns:a16="http://schemas.microsoft.com/office/drawing/2014/main" id="{14ED8E12-6E75-B8E6-EF9A-4A8CE52B3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3" y="211138"/>
            <a:ext cx="3781425" cy="360362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1" hangingPunct="1">
              <a:defRPr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■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PROJECT COMPLETION REPORT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187" name="그림 1">
            <a:extLst>
              <a:ext uri="{FF2B5EF4-FFF2-40B4-BE49-F238E27FC236}">
                <a16:creationId xmlns:a16="http://schemas.microsoft.com/office/drawing/2014/main" id="{3DAA50A6-9A46-4231-5B28-D74979F2B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149225"/>
            <a:ext cx="1414463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82BB4F-7CF9-DE08-64DC-72ECBF6BB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286" y="2441274"/>
            <a:ext cx="8729933" cy="413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77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3E4CE-5CD2-6F82-63A5-DC6CBEF9C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9554" name="Group 2">
            <a:extLst>
              <a:ext uri="{FF2B5EF4-FFF2-40B4-BE49-F238E27FC236}">
                <a16:creationId xmlns:a16="http://schemas.microsoft.com/office/drawing/2014/main" id="{5BF3A8B7-CC48-413C-0B3C-A91DA9CC1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939573"/>
              </p:ext>
            </p:extLst>
          </p:nvPr>
        </p:nvGraphicFramePr>
        <p:xfrm>
          <a:off x="182563" y="981075"/>
          <a:ext cx="8777287" cy="5664200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1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07">
                <a:tc row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Project Name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>
                          <a:latin typeface="+mn-ea"/>
                          <a:cs typeface="Gulim" panose="020B0600000101010101" pitchFamily="34" charset="-127"/>
                        </a:rPr>
                        <a:t>General Assembly Repair Area Electrical Work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Duration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Jan. 22. 2026 ~ Jan. 25. 2026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62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Contractor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TK Electric LLC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393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Location</a:t>
                      </a:r>
                      <a:endParaRPr kumimoji="1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Malgun Gothic" panose="020B0503020000020004" pitchFamily="34" charset="-127"/>
                        </a:rPr>
                        <a:t>General Assembly(Repair Area)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0305">
                <a:tc grid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14">
                <a:tc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Date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Jan. 25. 2026 (SUN)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Date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Jan. 25. 2026 (SUN)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60">
                <a:tc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Description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RM-4001A / CKT43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RECEPTACLES(QUAD) TEST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Description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RM-4001A / CKT44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RECEPTACLES(QUAD) TEST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233" name="Rectangle 33">
            <a:extLst>
              <a:ext uri="{FF2B5EF4-FFF2-40B4-BE49-F238E27FC236}">
                <a16:creationId xmlns:a16="http://schemas.microsoft.com/office/drawing/2014/main" id="{008F89A8-FBF5-DAEB-0B4A-5E0C3F6BC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2163"/>
            <a:ext cx="9144000" cy="8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ko-KR" altLang="ko-KR" sz="13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2090" name="Rectangle 34">
            <a:extLst>
              <a:ext uri="{FF2B5EF4-FFF2-40B4-BE49-F238E27FC236}">
                <a16:creationId xmlns:a16="http://schemas.microsoft.com/office/drawing/2014/main" id="{AA53A367-EE5D-F712-699A-14BE3FEFE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3" y="211138"/>
            <a:ext cx="3781425" cy="360362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1" hangingPunct="1">
              <a:defRPr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■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PROJECT COMPLETION REPORT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8235" name="그림 1">
            <a:extLst>
              <a:ext uri="{FF2B5EF4-FFF2-40B4-BE49-F238E27FC236}">
                <a16:creationId xmlns:a16="http://schemas.microsoft.com/office/drawing/2014/main" id="{15FFBB69-2DA0-8014-C81D-D4D859D99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149225"/>
            <a:ext cx="1414463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C4FB8140-0598-A314-5977-D65B65FDAA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5C31F6-F2F1-E9EC-72A6-4FD78CD82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222" y="2139950"/>
            <a:ext cx="2366035" cy="3022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E09B40-1402-41A9-F27D-693E488F5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391" y="2139950"/>
            <a:ext cx="2305373" cy="302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FA07B3-BA47-DD0A-7A32-3B733DDE3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1250" y="2139950"/>
            <a:ext cx="2165661" cy="3022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A6678E-CD5B-A4FC-1524-0C04F0B752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8552" y="2139950"/>
            <a:ext cx="2030057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07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AD05-DCCD-584E-3983-F6AC2CE54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9554" name="Group 2">
            <a:extLst>
              <a:ext uri="{FF2B5EF4-FFF2-40B4-BE49-F238E27FC236}">
                <a16:creationId xmlns:a16="http://schemas.microsoft.com/office/drawing/2014/main" id="{93FBBFCF-7C17-6F6A-B4F2-8C6F2E6F8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64351"/>
              </p:ext>
            </p:extLst>
          </p:nvPr>
        </p:nvGraphicFramePr>
        <p:xfrm>
          <a:off x="183356" y="879475"/>
          <a:ext cx="8777287" cy="5804334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0373">
                <a:tc row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Project Name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>
                          <a:latin typeface="+mn-ea"/>
                          <a:cs typeface="Gulim" panose="020B0600000101010101" pitchFamily="34" charset="-127"/>
                        </a:rPr>
                        <a:t>General Assembly Repair Area Electrical Work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Duration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Jan. 22. 2026 ~ Jan. 25. 2026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6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Contractor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TK Electric LLC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919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Location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Malgun Gothic" panose="020B0503020000020004" pitchFamily="34" charset="-127"/>
                        </a:rPr>
                        <a:t>General Assembly(Polishing Area)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52">
                <a:tc gridSpan="4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Drawing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1985">
                <a:tc gridSpan="4"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85" name="Rectangle 33">
            <a:extLst>
              <a:ext uri="{FF2B5EF4-FFF2-40B4-BE49-F238E27FC236}">
                <a16:creationId xmlns:a16="http://schemas.microsoft.com/office/drawing/2014/main" id="{F0893218-3E6C-7E16-0316-0A4EE5A4C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2163"/>
            <a:ext cx="9144000" cy="8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ko-KR" altLang="ko-KR" sz="13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2090" name="Rectangle 34">
            <a:extLst>
              <a:ext uri="{FF2B5EF4-FFF2-40B4-BE49-F238E27FC236}">
                <a16:creationId xmlns:a16="http://schemas.microsoft.com/office/drawing/2014/main" id="{CA56CA31-B6A2-EFD1-0855-BF22965CE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3" y="211138"/>
            <a:ext cx="3781425" cy="360362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1" hangingPunct="1">
              <a:defRPr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■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PROJECT COMPLETION REPORT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187" name="그림 1">
            <a:extLst>
              <a:ext uri="{FF2B5EF4-FFF2-40B4-BE49-F238E27FC236}">
                <a16:creationId xmlns:a16="http://schemas.microsoft.com/office/drawing/2014/main" id="{29514612-1413-35A3-85E2-37CE8F0E9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149225"/>
            <a:ext cx="1414463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0AF31E-8A74-128F-6B0A-ED90FBF13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73" y="2438401"/>
            <a:ext cx="6891308" cy="41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560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BA9A6-F1EE-8A75-9198-C273DC379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9554" name="Group 2">
            <a:extLst>
              <a:ext uri="{FF2B5EF4-FFF2-40B4-BE49-F238E27FC236}">
                <a16:creationId xmlns:a16="http://schemas.microsoft.com/office/drawing/2014/main" id="{AD56464F-A64D-B5DE-4CB5-AE13B2953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866445"/>
              </p:ext>
            </p:extLst>
          </p:nvPr>
        </p:nvGraphicFramePr>
        <p:xfrm>
          <a:off x="182563" y="981075"/>
          <a:ext cx="8777287" cy="5664200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1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07">
                <a:tc row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Project Name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>
                          <a:latin typeface="+mn-ea"/>
                          <a:cs typeface="Gulim" panose="020B0600000101010101" pitchFamily="34" charset="-127"/>
                        </a:rPr>
                        <a:t>General Assembly Repair Area Electrical Work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Duration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Jan. 22. 2026 ~ Jan. 25. 2026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62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Contractor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TK Electric LLC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393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Location</a:t>
                      </a:r>
                      <a:endParaRPr kumimoji="1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Malgun Gothic" panose="020B0503020000020004" pitchFamily="34" charset="-127"/>
                        </a:rPr>
                        <a:t>General Assembly(Polishing Area)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0305">
                <a:tc grid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14">
                <a:tc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Date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Jan. 25. 2026 (SUN)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Date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Jan. 25. 2026 (SUN)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60">
                <a:tc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Description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RECEPTACLES(L8-30R) FOR INFARED LAMPS TEST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Description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POLISHING AREA INFARED LAMP PANEL INSTALL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233" name="Rectangle 33">
            <a:extLst>
              <a:ext uri="{FF2B5EF4-FFF2-40B4-BE49-F238E27FC236}">
                <a16:creationId xmlns:a16="http://schemas.microsoft.com/office/drawing/2014/main" id="{D7201AF7-71D8-6141-1F30-8B0DF31D3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2163"/>
            <a:ext cx="9144000" cy="8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ko-KR" altLang="ko-KR" sz="13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2090" name="Rectangle 34">
            <a:extLst>
              <a:ext uri="{FF2B5EF4-FFF2-40B4-BE49-F238E27FC236}">
                <a16:creationId xmlns:a16="http://schemas.microsoft.com/office/drawing/2014/main" id="{371A199E-241B-10C4-FB95-86D672AC2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3" y="211138"/>
            <a:ext cx="3781425" cy="360362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1" hangingPunct="1">
              <a:defRPr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■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PROJECT COMPLETION REPORT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8235" name="그림 1">
            <a:extLst>
              <a:ext uri="{FF2B5EF4-FFF2-40B4-BE49-F238E27FC236}">
                <a16:creationId xmlns:a16="http://schemas.microsoft.com/office/drawing/2014/main" id="{C15D22A4-5612-3EC8-E31E-F40E5B16A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149225"/>
            <a:ext cx="1414463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21CE9439-7DF7-F7F7-98B9-864F236075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3868A5-1C8A-C9FE-6F21-3F8E20F99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651" y="1968500"/>
            <a:ext cx="2061557" cy="3644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0537F4-5F9B-6AF3-1A22-AE44EC9ED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563" y="1968499"/>
            <a:ext cx="2289088" cy="36449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221620-A466-F82E-5270-EA6649C868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0650"/>
          <a:stretch>
            <a:fillRect/>
          </a:stretch>
        </p:blipFill>
        <p:spPr>
          <a:xfrm>
            <a:off x="4670640" y="1968499"/>
            <a:ext cx="2001710" cy="36449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348E8A-120F-2180-9C9B-04803E9493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2349" y="3696393"/>
            <a:ext cx="2198990" cy="19313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6A5EC7-A184-BB7C-3719-2FF17776541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28944"/>
          <a:stretch>
            <a:fillRect/>
          </a:stretch>
        </p:blipFill>
        <p:spPr>
          <a:xfrm>
            <a:off x="6672348" y="1968500"/>
            <a:ext cx="2198992" cy="171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04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F7E98-9743-2F37-4A05-5EDB04DB6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9554" name="Group 2">
            <a:extLst>
              <a:ext uri="{FF2B5EF4-FFF2-40B4-BE49-F238E27FC236}">
                <a16:creationId xmlns:a16="http://schemas.microsoft.com/office/drawing/2014/main" id="{DD621102-7FD4-ED2F-29B2-40A6B1C4C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371964"/>
              </p:ext>
            </p:extLst>
          </p:nvPr>
        </p:nvGraphicFramePr>
        <p:xfrm>
          <a:off x="182563" y="981075"/>
          <a:ext cx="8777287" cy="5664200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1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07">
                <a:tc row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Project Name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>
                          <a:latin typeface="+mn-ea"/>
                          <a:cs typeface="Gulim" panose="020B0600000101010101" pitchFamily="34" charset="-127"/>
                        </a:rPr>
                        <a:t>General Assembly Repair Area Electrical Work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Duration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Jan. 22. 2026 ~ Jan. 25. 2026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62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Contractor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TK Electric LLC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393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Location</a:t>
                      </a:r>
                      <a:endParaRPr kumimoji="1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Malgun Gothic" panose="020B0503020000020004" pitchFamily="34" charset="-127"/>
                        </a:rPr>
                        <a:t>General Assembly(Polishing Area)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0305">
                <a:tc grid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14">
                <a:tc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Date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Jan. 25. 2026 (SUN)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Date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Jan. 25. 2026 (SUN)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60">
                <a:tc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Description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POLISHING AREA INFARED LAMP PANEL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ROTATION TEST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>
                      <a:lvl1pPr marL="533400" indent="-533400"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Description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5pPr>
                      <a:lvl6pPr marL="25146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6pPr>
                      <a:lvl7pPr marL="29718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7pPr>
                      <a:lvl8pPr marL="34290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8pPr>
                      <a:lvl9pPr marL="3886200" indent="-228600" eaLnBrk="0" fontAlgn="base" latinLnBrk="1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algun Gothic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POLISHING AREA INFARED LAMP PANEL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VOLTAGE TEST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233" name="Rectangle 33">
            <a:extLst>
              <a:ext uri="{FF2B5EF4-FFF2-40B4-BE49-F238E27FC236}">
                <a16:creationId xmlns:a16="http://schemas.microsoft.com/office/drawing/2014/main" id="{71DBE15D-9F12-E211-0664-CC7E577B5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2163"/>
            <a:ext cx="9144000" cy="8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ko-KR" altLang="ko-KR" sz="13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2090" name="Rectangle 34">
            <a:extLst>
              <a:ext uri="{FF2B5EF4-FFF2-40B4-BE49-F238E27FC236}">
                <a16:creationId xmlns:a16="http://schemas.microsoft.com/office/drawing/2014/main" id="{2368B39B-C82C-39D1-E07C-D01CC227A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3" y="211138"/>
            <a:ext cx="3781425" cy="360362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1" hangingPunct="1">
              <a:defRPr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■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PROJECT COMPLETION REPORT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8235" name="그림 1">
            <a:extLst>
              <a:ext uri="{FF2B5EF4-FFF2-40B4-BE49-F238E27FC236}">
                <a16:creationId xmlns:a16="http://schemas.microsoft.com/office/drawing/2014/main" id="{5B52241C-CC97-CEA9-E75C-E381B35E6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149225"/>
            <a:ext cx="1414463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8B1CA3E6-2933-7891-7B00-5870EC95F0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116C6C9-2A25-6571-8339-7138930A3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189" y="1906213"/>
            <a:ext cx="4216346" cy="381848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D76BF98-EDDD-A513-04E2-1051CD520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466" y="1906213"/>
            <a:ext cx="4267200" cy="381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393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BADB7D"/>
      </a:accent5>
      <a:accent6>
        <a:srgbClr val="D9E288"/>
      </a:accent6>
      <a:hlink>
        <a:srgbClr val="6B9F25"/>
      </a:hlink>
      <a:folHlink>
        <a:srgbClr val="BA6906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6928</TotalTime>
  <Words>464</Words>
  <Application>Microsoft Office PowerPoint</Application>
  <PresentationFormat>On-screen Show (4:3)</PresentationFormat>
  <Paragraphs>162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굴림</vt:lpstr>
      <vt:lpstr>HY헤드라인M</vt:lpstr>
      <vt:lpstr>Malgun Gothic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KYUTAE KIM</dc:creator>
  <cp:lastModifiedBy>KYUTAE KIM</cp:lastModifiedBy>
  <cp:revision>298</cp:revision>
  <dcterms:created xsi:type="dcterms:W3CDTF">2018-10-01T15:29:14Z</dcterms:created>
  <dcterms:modified xsi:type="dcterms:W3CDTF">2026-01-27T02:54:51Z</dcterms:modified>
</cp:coreProperties>
</file>